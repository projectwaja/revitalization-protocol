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3200400"/>
          </a:xfrm>
          <a:prstGeom prst="rect">
            <a:avLst/>
          </a:prstGeom>
          <a:solidFill>
            <a:srgbClr val="375BD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REVITALIZATION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solvency monitoring + tokenized rescue funding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stalled infrastructure projects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828800" cy="27432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Convergence 2026 Hackathon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Willis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280160" cy="12801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17520"/>
            <a:ext cx="365760" cy="3657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017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Projects Are Failing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1691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64008" cy="1691640"/>
          </a:xfrm>
          <a:prstGeom prst="rect">
            <a:avLst/>
          </a:prstGeom>
          <a:solidFill>
            <a:srgbClr val="EB57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California High-Speed Rail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920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 in cost overruns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behind schedule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restructured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840480" cy="1691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325880"/>
            <a:ext cx="64008" cy="1691640"/>
          </a:xfrm>
          <a:prstGeom prst="rect">
            <a:avLst/>
          </a:prstGeom>
          <a:solidFill>
            <a:srgbClr val="EB575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Oceanwide Plaza, Los Angeles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4920" y="1920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 skyscraper abandoned at 80%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trapped, investors stranded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blight in downtown LA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projects stall: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trapped  •  Communities lose economic opportunity  •  Investors have no recourse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exists to detect failing projects early, trigger emergency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or verify rescue capital reaches actual construction.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14630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64008" cy="1463040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508760"/>
            <a:ext cx="502920" cy="502920"/>
          </a:xfrm>
          <a:prstGeom prst="oval">
            <a:avLst/>
          </a:prstGeom>
          <a:solidFill>
            <a:srgbClr val="375BD2">
              <a:alpha val="2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191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508760" y="1847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 Gap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087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3840480" cy="14630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280160"/>
            <a:ext cx="64008" cy="14630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1508760"/>
            <a:ext cx="502920" cy="502920"/>
          </a:xfrm>
          <a:prstGeom prst="oval">
            <a:avLst/>
          </a:prstGeom>
          <a:solidFill>
            <a:srgbClr val="F2994A">
              <a:alpha val="2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58191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150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715000" y="1847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Mega-Projects with 50%+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150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2971800"/>
            <a:ext cx="3840480" cy="14630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971800"/>
            <a:ext cx="64008" cy="14630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" y="3200400"/>
            <a:ext cx="502920" cy="502920"/>
          </a:xfrm>
          <a:prstGeom prst="oval">
            <a:avLst/>
          </a:prstGeom>
          <a:solidFill>
            <a:srgbClr val="EB5757">
              <a:alpha val="2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27355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Months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150876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Rescue Process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50876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negotiations, zero transparency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754880" y="2971800"/>
            <a:ext cx="3840480" cy="14630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54880" y="2971800"/>
            <a:ext cx="64008" cy="146304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9" name="Shape 24"/>
          <p:cNvSpPr/>
          <p:nvPr/>
        </p:nvSpPr>
        <p:spPr>
          <a:xfrm>
            <a:off x="5029200" y="3200400"/>
            <a:ext cx="502920" cy="502920"/>
          </a:xfrm>
          <a:prstGeom prst="oval">
            <a:avLst/>
          </a:prstGeom>
          <a:solidFill>
            <a:srgbClr val="6B7FA3">
              <a:alpha val="20000"/>
            </a:srgb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273552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150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571500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Solutions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Exist Today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7150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infra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Revitalization Protocol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Chainlink-powered oracle platform for infrastructure project rescue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54864" cy="5486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81912"/>
            <a:ext cx="402336" cy="402336"/>
          </a:xfrm>
          <a:prstGeom prst="oval">
            <a:avLst/>
          </a:prstGeom>
          <a:solidFill>
            <a:srgbClr val="F2994A">
              <a:alpha val="2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508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874520" y="1508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1508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distress in real time via AI-powered solvency scoring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167128"/>
            <a:ext cx="8046720" cy="548640"/>
          </a:xfrm>
          <a:prstGeom prst="rect">
            <a:avLst/>
          </a:prstGeom>
          <a:solidFill>
            <a:srgbClr val="1A335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167128"/>
            <a:ext cx="54864" cy="5486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2240280"/>
            <a:ext cx="402336" cy="402336"/>
          </a:xfrm>
          <a:prstGeom prst="oval">
            <a:avLst/>
          </a:prstGeom>
          <a:solidFill>
            <a:srgbClr val="F2C94C">
              <a:alpha val="2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29514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21671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874520" y="21671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108960" y="2167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rescue funding rounds automatically (ERC-1155)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2825496"/>
            <a:ext cx="8046720" cy="548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2825496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" y="2898648"/>
            <a:ext cx="402336" cy="402336"/>
          </a:xfrm>
          <a:prstGeom prst="oval">
            <a:avLst/>
          </a:prstGeom>
          <a:solidFill>
            <a:srgbClr val="27AE60">
              <a:alpha val="25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95351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28254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874520" y="282549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108960" y="28254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progress via satellite/drone data (rule-based)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8640" y="3483864"/>
            <a:ext cx="8046720" cy="548640"/>
          </a:xfrm>
          <a:prstGeom prst="rect">
            <a:avLst/>
          </a:prstGeom>
          <a:solidFill>
            <a:srgbClr val="1A335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8640" y="3483864"/>
            <a:ext cx="54864" cy="5486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30" name="Shape 25"/>
          <p:cNvSpPr/>
          <p:nvPr/>
        </p:nvSpPr>
        <p:spPr>
          <a:xfrm>
            <a:off x="777240" y="3557016"/>
            <a:ext cx="402336" cy="402336"/>
          </a:xfrm>
          <a:prstGeom prst="oval">
            <a:avLst/>
          </a:prstGeom>
          <a:solidFill>
            <a:srgbClr val="9B51E0">
              <a:alpha val="25000"/>
            </a:srgb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61188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3483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874520" y="348386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PROTECTS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3108960" y="34838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financial data with Confidential Compute attestations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8640" y="4142232"/>
            <a:ext cx="8046720" cy="548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48640" y="4142232"/>
            <a:ext cx="54864" cy="54864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7" name="Shape 31"/>
          <p:cNvSpPr/>
          <p:nvPr/>
        </p:nvSpPr>
        <p:spPr>
          <a:xfrm>
            <a:off x="777240" y="4215384"/>
            <a:ext cx="402336" cy="402336"/>
          </a:xfrm>
          <a:prstGeom prst="oval">
            <a:avLst/>
          </a:prstGeom>
          <a:solidFill>
            <a:srgbClr val="2D9CDB">
              <a:alpha val="25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270248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371600" y="4142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1874520" y="41422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BRIDGES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3108960" y="414223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capital via CCIP (Sepolia ↔ Polygon Amoy)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smart contracts connected by typed cross-module hooks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74720" cy="1005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3474720" cy="54864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 Oracle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+ AI (Claude) → SolvencyConsumer.sol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1417320"/>
            <a:ext cx="3474720" cy="1005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417320"/>
            <a:ext cx="34747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002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Oracle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4924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Rule-Based → MilestoneConsumer.sol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3716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rescue trigger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436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tranche trigger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011680" y="2834640"/>
            <a:ext cx="5120640" cy="91440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011680" y="2834640"/>
            <a:ext cx="5120640" cy="54864"/>
          </a:xfrm>
          <a:prstGeom prst="rect">
            <a:avLst/>
          </a:prstGeom>
          <a:solidFill>
            <a:srgbClr val="F2C94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1752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4320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TokenizedFundingEngine.sol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2860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Multi-Token  •  Milestone-Gated Tranches  •  Automation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114800" y="3794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023360"/>
            <a:ext cx="384048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ReserveVerifier.sol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7724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Reserves + Automation (4h)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54880" y="4023360"/>
            <a:ext cx="384048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54880" y="4023360"/>
            <a:ext cx="54864" cy="777240"/>
          </a:xfrm>
          <a:prstGeom prst="rect">
            <a:avLst/>
          </a:prstGeom>
          <a:solidFill>
            <a:srgbClr val="9B51E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1605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492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ConfidentialSolvencyCompute.sol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9834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Scoring + Attestations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Chainlink Services Integrated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16152"/>
            <a:ext cx="310896" cy="310896"/>
          </a:xfrm>
          <a:prstGeom prst="oval">
            <a:avLst/>
          </a:prstGeom>
          <a:solidFill>
            <a:srgbClr val="375B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271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43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Workflows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modules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91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consensus, signed reports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1673352"/>
            <a:ext cx="8046720" cy="45720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1746504"/>
            <a:ext cx="310896" cy="310896"/>
          </a:xfrm>
          <a:prstGeom prst="oval">
            <a:avLst/>
          </a:prstGeom>
          <a:solidFill>
            <a:srgbClr val="F299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80136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16733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17320" y="1673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46120" y="1673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Oracle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09160" y="1673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risk scoring (temp=0, identical consensus)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203704"/>
            <a:ext cx="8046720" cy="45720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2276856"/>
            <a:ext cx="310896" cy="310896"/>
          </a:xfrm>
          <a:prstGeom prst="oval">
            <a:avLst/>
          </a:prstGeom>
          <a:solidFill>
            <a:srgbClr val="2D9CD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33172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22037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417320" y="2203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Feeds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246120" y="2203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Oracle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709160" y="2203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cost indices (steel, concrete, labor)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2734056"/>
            <a:ext cx="8046720" cy="45720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28" name="Shape 23"/>
          <p:cNvSpPr/>
          <p:nvPr/>
        </p:nvSpPr>
        <p:spPr>
          <a:xfrm>
            <a:off x="685800" y="2807208"/>
            <a:ext cx="310896" cy="310896"/>
          </a:xfrm>
          <a:prstGeom prst="oval">
            <a:avLst/>
          </a:prstGeom>
          <a:solidFill>
            <a:srgbClr val="375BD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862072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27340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417320" y="2734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CCIP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3246120" y="2734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Engine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709160" y="2734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transfers: Sepolia ↔ Polygon Amoy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3264408"/>
            <a:ext cx="8046720" cy="45720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35" name="Shape 29"/>
          <p:cNvSpPr/>
          <p:nvPr/>
        </p:nvSpPr>
        <p:spPr>
          <a:xfrm>
            <a:off x="685800" y="3337560"/>
            <a:ext cx="310896" cy="310896"/>
          </a:xfrm>
          <a:prstGeom prst="oval">
            <a:avLst/>
          </a:prstGeom>
          <a:solidFill>
            <a:srgbClr val="27AE6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392424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97280" y="32644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417320" y="3264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246120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+ Reserve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709160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Auto-expire stale rounds, 4h reserve checks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42" name="Shape 35"/>
          <p:cNvSpPr/>
          <p:nvPr/>
        </p:nvSpPr>
        <p:spPr>
          <a:xfrm>
            <a:off x="685800" y="3867912"/>
            <a:ext cx="310896" cy="310896"/>
          </a:xfrm>
          <a:prstGeom prst="oval">
            <a:avLst/>
          </a:prstGeom>
          <a:solidFill>
            <a:srgbClr val="27AE6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922776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97280" y="3794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141732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Reserves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324612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Verifier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7091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deposits match claimed on-chain reserves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548640" y="4325112"/>
            <a:ext cx="8046720" cy="45720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49" name="Shape 41"/>
          <p:cNvSpPr/>
          <p:nvPr/>
        </p:nvSpPr>
        <p:spPr>
          <a:xfrm>
            <a:off x="685800" y="4398264"/>
            <a:ext cx="310896" cy="310896"/>
          </a:xfrm>
          <a:prstGeom prst="oval">
            <a:avLst/>
          </a:prstGeom>
          <a:solidFill>
            <a:srgbClr val="9B51E0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453128"/>
            <a:ext cx="201168" cy="20116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097280" y="43251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1417320" y="4325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Compute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3246120" y="43251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Compute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4709160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scoring + attestation hashes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services than most hackathon teams — each with a clear, justified purpose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"/>
            <a:ext cx="2377440" cy="320040"/>
          </a:xfrm>
          <a:prstGeom prst="rect">
            <a:avLst/>
          </a:prstGeom>
          <a:solidFill>
            <a:srgbClr val="F2994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137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AI + CRE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 Oracle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using AI — a deliberate design choice for reliability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484632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called inside CRE via runInNodeMode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consensus: every DON node → same prompt → same 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0, structured output schema enforced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4 dimensions with weighted formula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25 → auto-triggers rescue funding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rule-based if AI call fails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417320"/>
            <a:ext cx="29260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21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Weights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1965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2212848"/>
            <a:ext cx="256032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2160" y="2212848"/>
            <a:ext cx="2240280" cy="109728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Momentum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2715768"/>
            <a:ext cx="256032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5852160" y="2715768"/>
            <a:ext cx="1600200" cy="109728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Exposure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3218688"/>
            <a:ext cx="256032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5852160" y="3218688"/>
            <a:ext cx="1280160" cy="1097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Adequacy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3474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3721608"/>
            <a:ext cx="256032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5852160" y="3721608"/>
            <a:ext cx="128016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F2994A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15968"/>
            <a:ext cx="320040" cy="32004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28016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&lt; 25  →  Automatic Rescue Trigger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93776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hook creates RESCUE round on TokenizedFundingEngine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MODULE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Tokenized Funding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114800" cy="3291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ERC-1155 Multi-Token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+ investor = unique token 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RESCUE (oracle-triggered)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615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Tranche Release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615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locked until milestones verified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54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Flow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ETH → position token → claim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493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checkUpkeep scans expired OPEN rounds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SOLVENCY, MILESTONE, ADMIN roles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657600" cy="3291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Milestone-Gated Tranches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4 milestones × 25% each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011680"/>
            <a:ext cx="32004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4" name="Shape 22"/>
          <p:cNvSpPr/>
          <p:nvPr/>
        </p:nvSpPr>
        <p:spPr>
          <a:xfrm>
            <a:off x="5166360" y="2011680"/>
            <a:ext cx="45720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2011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Foundation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0116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011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560320"/>
            <a:ext cx="3200400" cy="438912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9" name="Shape 27"/>
          <p:cNvSpPr/>
          <p:nvPr/>
        </p:nvSpPr>
        <p:spPr>
          <a:xfrm>
            <a:off x="5166360" y="2560320"/>
            <a:ext cx="45720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25603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25603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3108960"/>
            <a:ext cx="3200400" cy="438912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34" name="Shape 32"/>
          <p:cNvSpPr/>
          <p:nvPr/>
        </p:nvSpPr>
        <p:spPr>
          <a:xfrm>
            <a:off x="5166360" y="3108960"/>
            <a:ext cx="45720" cy="438912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108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Envelope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1089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66360" y="3657600"/>
            <a:ext cx="3200400" cy="438912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39" name="Shape 37"/>
          <p:cNvSpPr/>
          <p:nvPr/>
        </p:nvSpPr>
        <p:spPr>
          <a:xfrm>
            <a:off x="5166360" y="3657600"/>
            <a:ext cx="45720" cy="438912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3657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Completion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36576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Oracle + Reserve Verifier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Oracle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No 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Satellite/drone imagery via CRE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2404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change detection scoring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similarity analysis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activity measurement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verification (100% required)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15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≥ threshold → tranche released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375BD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Verifier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4864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Reserves + Automation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9834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2578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reserves match claimed deposits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98348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257800" y="2404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Engine ETH balance self-audit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98348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25780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checkUpkeep every 4 hours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98348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25780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performUpkeep → verifyFundingEngineReserves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98348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States: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98348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• VERIFIED • UNDER_RESERVED • STALE_DATA • FEED_UNAVAILABLE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Compute + Privacy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computation was done in enclave without revealing raw financial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286000" cy="16459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9B51E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373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Financial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metrics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exposed on-chain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2286000" cy="16459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554480"/>
            <a:ext cx="2286000" cy="45720"/>
          </a:xfrm>
          <a:prstGeom prst="rect">
            <a:avLst/>
          </a:prstGeom>
          <a:solidFill>
            <a:srgbClr val="9B51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Enclave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trusted environment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1554480"/>
            <a:ext cx="2286000" cy="16459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554480"/>
            <a:ext cx="2286000" cy="4572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Attestation Hash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922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stored on-chain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by anyone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92608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B51E0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585216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B51E0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48640" y="3520440"/>
            <a:ext cx="3840480" cy="12801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Roles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7724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COMPUTE_OPERATOR_ROLE — submits raw scores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ENCLAVE_ROLE — attests computation validity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754880" y="3520440"/>
            <a:ext cx="3840480" cy="12801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983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Formula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9834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(35%) + Cost Exposure (20%)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Funding Momentum (25%) + Runway (20%)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Smart Contracts, 87 Tests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548640"/>
            <a:ext cx="1828800" cy="365760"/>
          </a:xfrm>
          <a:prstGeom prst="rect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PASSING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188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SolvencyConsumer.sol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Ownable, CRE reports, rescue trigger hook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MilestoneConsumer.sol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Ownable, CRE reports, tranche trigger hook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TokenizedFundingEngine.sol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ERC-1155, AccessControl, ReentrancyGuard, Pausable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ReserveVerifier.sol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integration, Automation, engine self-audit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ConfidentialSolvencyCompute.sol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AccessControl, weighted scoring, attestation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FundingBridgeReceiver.sol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0624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CCIP receiver stub (architecture demo)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918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06240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E2E + automation + hooks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375BD2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29184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~1830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06240" y="4480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37760" y="4480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 — production-quality code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TypeScript Workflows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workflows have fallback paths if any external call fails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9144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81912"/>
            <a:ext cx="502920" cy="502920"/>
          </a:xfrm>
          <a:prstGeom prst="oval">
            <a:avLst/>
          </a:prstGeom>
          <a:solidFill>
            <a:srgbClr val="F2994A">
              <a:alpha val="2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5506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solvency-oracle.ts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40480" y="1527048"/>
            <a:ext cx="822960" cy="256032"/>
          </a:xfrm>
          <a:prstGeom prst="rect">
            <a:avLst/>
          </a:prstGeom>
          <a:solidFill>
            <a:srgbClr val="F2994A">
              <a:alpha val="2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0" y="1527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✦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1490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6304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financials → Data Feeds → AI risk scoring → Confidential Compute → Encode → Sign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51460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679192"/>
            <a:ext cx="502920" cy="502920"/>
          </a:xfrm>
          <a:prstGeom prst="oval">
            <a:avLst/>
          </a:prstGeom>
          <a:solidFill>
            <a:srgbClr val="27AE60">
              <a:alpha val="2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5234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63040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milestone-oracle.ts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840480" y="2624328"/>
            <a:ext cx="1097280" cy="256032"/>
          </a:xfrm>
          <a:prstGeom prst="rect">
            <a:avLst/>
          </a:prstGeom>
          <a:solidFill>
            <a:srgbClr val="6B7FA3">
              <a:alpha val="1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84048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589520" y="2587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4630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imagery → Structural analysis → Site activity → Permit check → Encode report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" y="3611880"/>
            <a:ext cx="54864" cy="91440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7" name="Shape 23"/>
          <p:cNvSpPr/>
          <p:nvPr/>
        </p:nvSpPr>
        <p:spPr>
          <a:xfrm>
            <a:off x="777240" y="3776472"/>
            <a:ext cx="502920" cy="502920"/>
          </a:xfrm>
          <a:prstGeom prst="oval">
            <a:avLst/>
          </a:prstGeom>
          <a:solidFill>
            <a:srgbClr val="F2C94C">
              <a:alpha val="25000"/>
            </a:srgbClr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49624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6304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funding-engine.ts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840480" y="3721608"/>
            <a:ext cx="1097280" cy="256032"/>
          </a:xfrm>
          <a:prstGeom prst="rect">
            <a:avLst/>
          </a:prstGeom>
          <a:solidFill>
            <a:srgbClr val="6B7FA3">
              <a:alpha val="15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3840480" y="3721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589520" y="3685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4630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contracts → Investor analysis → Concentration/velocity risk → Health → Encode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TOOLING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+ Infrastructure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0" cy="2926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029200" cy="54864"/>
          </a:xfrm>
          <a:prstGeom prst="rect">
            <a:avLst/>
          </a:prstGeom>
          <a:solidFill>
            <a:srgbClr val="2D9CD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 + Tailwind CSS 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Sepolia data via viem • Auto-polls 10s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194560"/>
            <a:ext cx="1371600" cy="73152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194560"/>
            <a:ext cx="1371600" cy="36576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578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score ring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31720" y="2194560"/>
            <a:ext cx="1371600" cy="73152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16" name="Shape 13"/>
          <p:cNvSpPr/>
          <p:nvPr/>
        </p:nvSpPr>
        <p:spPr>
          <a:xfrm>
            <a:off x="2331720" y="2194560"/>
            <a:ext cx="13716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242316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423160" y="2578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4-card progress grid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886200" y="2194560"/>
            <a:ext cx="1371600" cy="73152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20" name="Shape 17"/>
          <p:cNvSpPr/>
          <p:nvPr/>
        </p:nvSpPr>
        <p:spPr>
          <a:xfrm>
            <a:off x="3886200" y="2194560"/>
            <a:ext cx="1371600" cy="36576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1" name="Text 18"/>
          <p:cNvSpPr/>
          <p:nvPr/>
        </p:nvSpPr>
        <p:spPr>
          <a:xfrm>
            <a:off x="397764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77640" y="2578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cards + bars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77240" y="3108960"/>
            <a:ext cx="1371600" cy="73152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108960"/>
            <a:ext cx="13716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8680" y="34930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bar + threshold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331720" y="3108960"/>
            <a:ext cx="1371600" cy="731520"/>
          </a:xfrm>
          <a:prstGeom prst="rect">
            <a:avLst/>
          </a:prstGeom>
          <a:solidFill>
            <a:srgbClr val="1A3356"/>
          </a:solidFill>
          <a:ln/>
        </p:spPr>
      </p:sp>
      <p:sp>
        <p:nvSpPr>
          <p:cNvPr id="28" name="Shape 25"/>
          <p:cNvSpPr/>
          <p:nvPr/>
        </p:nvSpPr>
        <p:spPr>
          <a:xfrm>
            <a:off x="2331720" y="3108960"/>
            <a:ext cx="1371600" cy="36576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9" name="Text 26"/>
          <p:cNvSpPr/>
          <p:nvPr/>
        </p:nvSpPr>
        <p:spPr>
          <a:xfrm>
            <a:off x="242316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423160" y="34930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852160" y="1188720"/>
            <a:ext cx="2743200" cy="2926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0350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Tooling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035040" y="1847088"/>
            <a:ext cx="274320" cy="274320"/>
          </a:xfrm>
          <a:prstGeom prst="oval">
            <a:avLst/>
          </a:prstGeom>
          <a:solidFill>
            <a:srgbClr val="375BD2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035040" y="1847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4652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Scripts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465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scripts, ordered + hook wiring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035040" y="2377440"/>
            <a:ext cx="274320" cy="274320"/>
          </a:xfrm>
          <a:prstGeom prst="oval">
            <a:avLst/>
          </a:prstGeom>
          <a:solidFill>
            <a:srgbClr val="375BD2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03504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4652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Simulation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4652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on Anvil (11 steps)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035040" y="2907792"/>
            <a:ext cx="274320" cy="274320"/>
          </a:xfrm>
          <a:prstGeom prst="oval">
            <a:avLst/>
          </a:prstGeom>
          <a:solidFill>
            <a:srgbClr val="375BD2">
              <a:alpha val="2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035040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46520" y="28895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API Server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446520" y="3118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data sources on port 3001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35040" y="3438144"/>
            <a:ext cx="274320" cy="274320"/>
          </a:xfrm>
          <a:prstGeom prst="oval">
            <a:avLst/>
          </a:prstGeom>
          <a:solidFill>
            <a:srgbClr val="375BD2">
              <a:alpha val="2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03504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446520" y="3419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44652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tests across 7 suites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on Sepolia Testnet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0" y="594360"/>
            <a:ext cx="182880" cy="182880"/>
          </a:xfrm>
          <a:prstGeom prst="oval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548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 on Etherscan — cross-module hooks wired and operational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54864" cy="6400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572768"/>
            <a:ext cx="411480" cy="411480"/>
          </a:xfrm>
          <a:prstGeom prst="oval">
            <a:avLst/>
          </a:prstGeom>
          <a:solidFill>
            <a:srgbClr val="F2994A">
              <a:alpha val="22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36776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SolvencyConsumer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0x4127a05f683d02ec7c691d295261f8298bfdb20d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240280"/>
            <a:ext cx="54864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350008"/>
            <a:ext cx="411480" cy="411480"/>
          </a:xfrm>
          <a:prstGeom prst="oval">
            <a:avLst/>
          </a:prstGeom>
          <a:solidFill>
            <a:srgbClr val="27AE60">
              <a:alpha val="22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14016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MilestoneConsumer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84048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0x510046808d7f20e7e3cb0f23038461c99eb62da3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017520"/>
            <a:ext cx="54864" cy="64008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" y="3127248"/>
            <a:ext cx="411480" cy="411480"/>
          </a:xfrm>
          <a:prstGeom prst="oval">
            <a:avLst/>
          </a:prstGeom>
          <a:solidFill>
            <a:srgbClr val="F2C94C">
              <a:alpha val="22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91256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TokenizedFundingEngine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8404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0x96dbe5f3cf891a6a8da49e27568ae817c471d719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3794760"/>
            <a:ext cx="54864" cy="640080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29" name="Shape 24"/>
          <p:cNvSpPr/>
          <p:nvPr/>
        </p:nvSpPr>
        <p:spPr>
          <a:xfrm>
            <a:off x="777240" y="3904488"/>
            <a:ext cx="411480" cy="411480"/>
          </a:xfrm>
          <a:prstGeom prst="oval">
            <a:avLst/>
          </a:prstGeom>
          <a:solidFill>
            <a:srgbClr val="375BD2">
              <a:alpha val="22000"/>
            </a:srgb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68496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7160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ReserveVerifier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384048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0x59b214722d632191921551ce59431acf65c05f0d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162A4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8912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3444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GitHub: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214884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github.com/ProjectWaja/Revitalization-Protocol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Local Anvil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0" y="548640"/>
            <a:ext cx="2011680" cy="320040"/>
          </a:xfrm>
          <a:prstGeom prst="rect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548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in ~30 seconds on local machine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657600" cy="1097280"/>
          </a:xfrm>
          <a:prstGeom prst="rect">
            <a:avLst/>
          </a:prstGeom>
          <a:solidFill>
            <a:srgbClr val="0A0E1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417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
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anvil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
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 build
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run scripts/demo-simulation.ts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4114800" cy="338328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Automated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all 4 contracts to Anvil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482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048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cross-module hooks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313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demo project ($50M, 4 milestones)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578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standard funding round (10 ETH)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843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deposit: 6 ETH + 4 ETH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108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0 verified → tranche 1 released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33741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claim pro-rata shares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score (15) → rescue round created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904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funds rescue round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169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ReserveVerifier validates ETH balance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4434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1-3 → all tranches → COMPLETED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Demo Options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Visual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+ demo simulation + live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3383280" cy="100584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anvil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run scripts/demo-simulation.ts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dashboard &amp;&amp; bun dev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http://localhost:3000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live data from Anvil after simulation runs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840480" cy="25603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Sepolia Live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reads deployed Sepolia contracts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2148840"/>
            <a:ext cx="3383280" cy="100584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dashboard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dev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http://localhost:3000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Connects to Sepolia by default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defaults until reports submitted via cast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6052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444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Tests: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743200" y="4114800"/>
            <a:ext cx="2011680" cy="32004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26" name="Text 23"/>
          <p:cNvSpPr/>
          <p:nvPr/>
        </p:nvSpPr>
        <p:spPr>
          <a:xfrm>
            <a:off x="28346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 test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3776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87 tests passing across 7 suites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Prize Categories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502920"/>
            <a:ext cx="2194560" cy="502920"/>
          </a:xfrm>
          <a:prstGeom prst="rect">
            <a:avLst/>
          </a:prstGeom>
          <a:solidFill>
            <a:srgbClr val="F2C94C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502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$69K Total Potential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7772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371600"/>
            <a:ext cx="502920" cy="502920"/>
          </a:xfrm>
          <a:prstGeom prst="oval">
            <a:avLst/>
          </a:prstGeom>
          <a:solidFill>
            <a:srgbClr val="F2C94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4475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 &amp; Tokenization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funding positions, milestone-gated tranches, CCIP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148840"/>
            <a:ext cx="54864" cy="7772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286000"/>
            <a:ext cx="502920" cy="502920"/>
          </a:xfrm>
          <a:prstGeom prst="oval">
            <a:avLst/>
          </a:prstGeom>
          <a:solidFill>
            <a:srgbClr val="F2994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5915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&amp; AI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3152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$17K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4630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 (Claude) inside CRE with identical consensus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3063240"/>
            <a:ext cx="804672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3063240"/>
            <a:ext cx="54864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Shape 20"/>
          <p:cNvSpPr/>
          <p:nvPr/>
        </p:nvSpPr>
        <p:spPr>
          <a:xfrm>
            <a:off x="777240" y="3200400"/>
            <a:ext cx="502920" cy="502920"/>
          </a:xfrm>
          <a:prstGeom prst="oval">
            <a:avLst/>
          </a:prstGeom>
          <a:solidFill>
            <a:srgbClr val="27AE6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273552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Compliance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731520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$16K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463040" y="3474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solvency monitoring, PoR, Automation audit trails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8640" y="3977640"/>
            <a:ext cx="54864" cy="7772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31" name="Shape 26"/>
          <p:cNvSpPr/>
          <p:nvPr/>
        </p:nvSpPr>
        <p:spPr>
          <a:xfrm>
            <a:off x="777240" y="4114800"/>
            <a:ext cx="502920" cy="502920"/>
          </a:xfrm>
          <a:prstGeom prst="oval">
            <a:avLst/>
          </a:prstGeom>
          <a:solidFill>
            <a:srgbClr val="9B51E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87952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63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31520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$16K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463040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Compute for sensitive financials + attestations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Chainlink Services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7452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integrated than most teams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188720"/>
            <a:ext cx="54864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288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8076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Production-quality, not a prototype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242316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423160"/>
            <a:ext cx="54864" cy="105156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745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Sepolia Deployed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8745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on testnet with hooks wired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242316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423160"/>
            <a:ext cx="54864" cy="105156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6" name="Text 21"/>
          <p:cNvSpPr/>
          <p:nvPr/>
        </p:nvSpPr>
        <p:spPr>
          <a:xfrm>
            <a:off x="498348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$13T</a:t>
            </a:r>
            <a:endParaRPr lang="en-US" sz="2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0632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0807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Gap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0807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crisis, not a toy use case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365760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3749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9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768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745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Module (Done Right)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87452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powerful integration, not AI everywhere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754880" y="3657600"/>
            <a:ext cx="3886200" cy="10515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54880" y="3657600"/>
            <a:ext cx="54864" cy="105156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38" name="Text 31"/>
          <p:cNvSpPr/>
          <p:nvPr/>
        </p:nvSpPr>
        <p:spPr>
          <a:xfrm>
            <a:off x="4983480" y="3749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</a:t>
            </a:r>
            <a:endParaRPr lang="en-US" sz="28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429768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0807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Lifecycle Demo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0807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→ milestones → rescue → verify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7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114800" cy="32461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0.8.24 via Foundry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984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v5.5.0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76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 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76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→ WASM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569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862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862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Tailwind CSS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 Client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398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(temp=0)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032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Testnets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+ Polygon Amoy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188720"/>
            <a:ext cx="3657600" cy="32461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1691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Only in Solvency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+ Funding are rule-based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2240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240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ERC-1155 over ERC-20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contract, gas efficient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788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Typed Hook Interfaces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Compiler-checked with try/catch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3337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Cleanup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rounds cancelled, 4h reserves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3886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 as Attestation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computation privately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3200400"/>
          </a:xfrm>
          <a:prstGeom prst="rect">
            <a:avLst/>
          </a:prstGeom>
          <a:solidFill>
            <a:srgbClr val="375BD2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75B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REVITALIZATION PROTOCOL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the next $100B infrastructure failure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5B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Services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7180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 Tests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Contracts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Sepolia Live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0" y="3794760"/>
            <a:ext cx="1828800" cy="27432"/>
          </a:xfrm>
          <a:prstGeom prst="rect">
            <a:avLst/>
          </a:prstGeom>
          <a:solidFill>
            <a:srgbClr val="375BD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Willis  •  Chainlink Convergence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5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github.com/ProjectWaja/Revitalization-Protocol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Revitalization Protocol — Chainlink Convergence 2026</dc:title>
  <dc:subject>PptxGenJS Presentation</dc:subject>
  <dc:creator>Willis</dc:creator>
  <cp:lastModifiedBy>Willis</cp:lastModifiedBy>
  <cp:revision>1</cp:revision>
  <dcterms:created xsi:type="dcterms:W3CDTF">2026-02-10T13:47:11Z</dcterms:created>
  <dcterms:modified xsi:type="dcterms:W3CDTF">2026-02-10T13:47:11Z</dcterms:modified>
</cp:coreProperties>
</file>